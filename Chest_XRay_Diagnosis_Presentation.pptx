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109" d="100"/>
          <a:sy n="109" d="100"/>
        </p:scale>
        <p:origin x="70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745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multi modal project and the aim is to explore how integrating visual and textual data can improve diagnostic reliability compared to single-modality approaches.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relying only on images or only on text, the system jointly learns from both chest X-ray images and their corresponding radiology reports to classify cases as </a:t>
            </a:r>
            <a:r>
              <a:rPr lang="en-US" b="1" dirty="0"/>
              <a:t>normal or abnormal</a:t>
            </a:r>
            <a:r>
              <a:rPr lang="en-US" dirty="0"/>
              <a:t>.</a:t>
            </a:r>
          </a:p>
          <a:p>
            <a:r>
              <a:rPr lang="en-US" dirty="0"/>
              <a:t>This setup is closer to real clinical practice, where radiologists use both visual evidence and written findings to make decisions.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 extracted from images and text are combined using </a:t>
            </a:r>
            <a:r>
              <a:rPr lang="en-US" b="1" dirty="0"/>
              <a:t>feature-level fusion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Since the dataset is imbalanced, a </a:t>
            </a:r>
            <a:r>
              <a:rPr lang="en-US" b="1" dirty="0"/>
              <a:t>class-weighted loss function</a:t>
            </a:r>
            <a:r>
              <a:rPr lang="en-US" dirty="0"/>
              <a:t> is applied to reduce bias toward the majority class. normalized using ImageNet statistics.</a:t>
            </a:r>
          </a:p>
          <a:p>
            <a:r>
              <a:rPr lang="en-US" dirty="0"/>
              <a:t>For text preprocessing, label-related terms are removed from reports to prevent data leakage, and the text is tokenized using </a:t>
            </a:r>
            <a:r>
              <a:rPr lang="en-US" b="1" dirty="0" err="1"/>
              <a:t>BioBERT’s</a:t>
            </a:r>
            <a:r>
              <a:rPr lang="en-US" b="1" dirty="0"/>
              <a:t> tokenizer</a:t>
            </a:r>
            <a:r>
              <a:rPr lang="en-US" dirty="0"/>
              <a:t>.</a:t>
            </a:r>
          </a:p>
          <a:p>
            <a:r>
              <a:rPr lang="en-US" dirty="0"/>
              <a:t>To prevent overfitting, techniques such as </a:t>
            </a:r>
            <a:r>
              <a:rPr lang="en-US" b="1" dirty="0"/>
              <a:t>early stopping and learning rate scheduling</a:t>
            </a:r>
            <a:r>
              <a:rPr lang="en-US" dirty="0"/>
              <a:t> are 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consists of two parallel branches.</a:t>
            </a:r>
            <a:br>
              <a:rPr lang="en-US" dirty="0"/>
            </a:br>
            <a:r>
              <a:rPr lang="en-US" dirty="0"/>
              <a:t>The image branch uses </a:t>
            </a:r>
            <a:r>
              <a:rPr lang="en-US" b="1" dirty="0"/>
              <a:t>ResNet-18</a:t>
            </a:r>
            <a:r>
              <a:rPr lang="en-US" dirty="0"/>
              <a:t>, which extracts a 512-dimensional feature vector from the chest X-ray image.</a:t>
            </a:r>
            <a:br>
              <a:rPr lang="en-US" dirty="0"/>
            </a:br>
            <a:r>
              <a:rPr lang="en-US" dirty="0"/>
              <a:t>The text branch uses </a:t>
            </a:r>
            <a:r>
              <a:rPr lang="en-US" b="1" dirty="0" err="1"/>
              <a:t>BioBERT</a:t>
            </a:r>
            <a:r>
              <a:rPr lang="en-US" dirty="0"/>
              <a:t>, producing a 768-dimensional embedding from the radiology report.</a:t>
            </a:r>
            <a:br>
              <a:rPr lang="en-US" dirty="0"/>
            </a:br>
            <a:r>
              <a:rPr lang="en-US" dirty="0"/>
              <a:t>These features are concatenated and passed through a </a:t>
            </a:r>
            <a:r>
              <a:rPr lang="en-US" b="1" dirty="0"/>
              <a:t>multilayer perceptron classifier</a:t>
            </a:r>
            <a:r>
              <a:rPr lang="en-US" dirty="0"/>
              <a:t> to predict normal or abnormal cases. </a:t>
            </a:r>
          </a:p>
          <a:p>
            <a:r>
              <a:rPr lang="en-US" dirty="0"/>
              <a:t>Transfer learning is used with ImageNet-pretrained weights for </a:t>
            </a:r>
            <a:r>
              <a:rPr lang="en-US" dirty="0" err="1"/>
              <a:t>ResNet</a:t>
            </a:r>
            <a:r>
              <a:rPr lang="en-US" dirty="0"/>
              <a:t> and PubMed-trained weights for </a:t>
            </a:r>
            <a:r>
              <a:rPr lang="en-US" dirty="0" err="1"/>
              <a:t>BioBERT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 err="1"/>
              <a:t>AdamW</a:t>
            </a:r>
            <a:r>
              <a:rPr lang="en-US" b="1" dirty="0"/>
              <a:t> optimizer</a:t>
            </a:r>
            <a:r>
              <a:rPr lang="en-US" dirty="0"/>
              <a:t> is used for efficient training and better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6902F-1E99-4CE7-72FB-5015D55E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09B00-3AD6-A961-3F01-B6DF0C2A2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76B6B-6F33-B36D-16D9-18E5EF19E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results show that the multimodal approach is effective despite the relatively small dataset size.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3D0C8-9B0C-F3AE-6789-65E7FE384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82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performs particularly well on normal cases, achieving </a:t>
            </a:r>
            <a:r>
              <a:rPr lang="en-US" b="1" dirty="0"/>
              <a:t>high precision of around 93%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However, performance on abnormal cases is lower, especially in terms of recall, which is around </a:t>
            </a:r>
            <a:r>
              <a:rPr lang="en-US" b="1" dirty="0"/>
              <a:t>52%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reflects the impact of class imbalance and limited abnormal samples in the dataset.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limitations: small dataset size and class imbalance and limited generalizability due to single-institution data.</a:t>
            </a:r>
          </a:p>
          <a:p>
            <a:r>
              <a:rPr lang="en-US" dirty="0"/>
              <a:t>Future work includes training on larger datasets, exploring advanced architectures like vision transformers </a:t>
            </a:r>
          </a:p>
          <a:p>
            <a:r>
              <a:rPr lang="en-US" dirty="0"/>
              <a:t>Improve interpretability through attention visualization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Learning-Based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Diagnosis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Medical Images and Radiology Reports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Sheneeza Chaudhary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22015775 | NP01MS7S250063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CC7009NI Neural Networks and Deep Learning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Single-modality systems lack clinical context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Image-only models miss textual insights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models lack visual pathology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interpretation is time-consuming and error-prone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deep learning framework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chest X-ray images with radiology reports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Normal vs Abnormal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decision-support tool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University Chest X-Ray Dataset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frontal X-ray images &amp; radiology reports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labels: Normal &amp; Abnormal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train/validation/test split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73152" cy="16459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Multimodal Learning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737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from pretrained models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fusion of image &amp; text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 for imbalance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2560320" cy="118872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224×224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3474720"/>
            <a:ext cx="2560320" cy="118872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3611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label-related terms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 tokenization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474720"/>
            <a:ext cx="2560320" cy="118872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3611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011680" cy="7315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005840"/>
            <a:ext cx="2194560" cy="1280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(512-dim)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2011680" cy="7315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3017520"/>
            <a:ext cx="2194560" cy="1280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(768-dim)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2011680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MLP Classifier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3657600"/>
            <a:ext cx="128016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0" y="3749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54914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Parameters: ~122M </a:t>
            </a:r>
            <a:endParaRPr lang="en-US" sz="12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FF3BED-4C61-6432-A8EF-2FE4DC8E4CB0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7406640" y="3108960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AEFD0AC-5D8E-C152-878A-9535B2D67786}"/>
              </a:ext>
            </a:extLst>
          </p:cNvPr>
          <p:cNvCxnSpPr>
            <a:stCxn id="4" idx="3"/>
          </p:cNvCxnSpPr>
          <p:nvPr/>
        </p:nvCxnSpPr>
        <p:spPr>
          <a:xfrm>
            <a:off x="2743200" y="1554480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E520BCE-5B12-E5F0-E6A7-1786DDE75E8F}"/>
              </a:ext>
            </a:extLst>
          </p:cNvPr>
          <p:cNvCxnSpPr/>
          <p:nvPr/>
        </p:nvCxnSpPr>
        <p:spPr>
          <a:xfrm>
            <a:off x="2743200" y="3566160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7EB1662-5FB9-36E6-CEC1-FAC08DA6B67B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>
            <a:off x="5669280" y="1645920"/>
            <a:ext cx="731520" cy="1005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7295FF-217C-D66D-9137-6EBFC9E9136C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669280" y="2798064"/>
            <a:ext cx="731520" cy="859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&amp; Hyperparameters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LR: 1×10⁻⁴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LR: 1×10⁻⁵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16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Epochs: 20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0.3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PyTorch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Google Colab GPU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Weighted 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Length: 256 tokens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Size: 224×224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00060-A69E-5363-9053-195B68D7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3C2C8A-A1D3-47EF-0434-B5A24D8C6225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0EAFB3-3A33-2AAB-3E69-DB91D23006A6}"/>
              </a:ext>
            </a:extLst>
          </p:cNvPr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1217269-8B8B-B6E7-AE9E-BAA238C080C7}"/>
              </a:ext>
            </a:extLst>
          </p:cNvPr>
          <p:cNvSpPr/>
          <p:nvPr/>
        </p:nvSpPr>
        <p:spPr>
          <a:xfrm>
            <a:off x="640080" y="1188720"/>
            <a:ext cx="2560320" cy="164592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4C9A55-CA45-683E-3F12-4C3EF7D4439A}"/>
              </a:ext>
            </a:extLst>
          </p:cNvPr>
          <p:cNvSpPr/>
          <p:nvPr/>
        </p:nvSpPr>
        <p:spPr>
          <a:xfrm>
            <a:off x="6400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6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1537CE3-64B1-FEB8-16FE-1F84A080B948}"/>
              </a:ext>
            </a:extLst>
          </p:cNvPr>
          <p:cNvSpPr/>
          <p:nvPr/>
        </p:nvSpPr>
        <p:spPr>
          <a:xfrm>
            <a:off x="6400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5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902C3BB-95DE-D2B0-417A-79ABA3B6A5D9}"/>
              </a:ext>
            </a:extLst>
          </p:cNvPr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585CDEB-BD8F-07BE-FF01-714695D61EFD}"/>
              </a:ext>
            </a:extLst>
          </p:cNvPr>
          <p:cNvSpPr/>
          <p:nvPr/>
        </p:nvSpPr>
        <p:spPr>
          <a:xfrm>
            <a:off x="33832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0.802</a:t>
            </a:r>
            <a:endParaRPr lang="en-US" sz="6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52CC068-258F-7DEE-2BCC-DA36D3895911}"/>
              </a:ext>
            </a:extLst>
          </p:cNvPr>
          <p:cNvSpPr/>
          <p:nvPr/>
        </p:nvSpPr>
        <p:spPr>
          <a:xfrm>
            <a:off x="33832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5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733697F-98C1-640D-6A7C-7503F350A37E}"/>
              </a:ext>
            </a:extLst>
          </p:cNvPr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9F352E-1ED4-7F1F-E102-80FA60BE81C0}"/>
              </a:ext>
            </a:extLst>
          </p:cNvPr>
          <p:cNvSpPr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~122M</a:t>
            </a:r>
            <a:endParaRPr lang="en-US" sz="5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07A705E-3849-08A6-D4E8-28518D852472}"/>
              </a:ext>
            </a:extLst>
          </p:cNvPr>
          <p:cNvSpPr/>
          <p:nvPr/>
        </p:nvSpPr>
        <p:spPr>
          <a:xfrm>
            <a:off x="61264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9CCAB96-97A9-0AC6-877A-702AAAC6419F}"/>
              </a:ext>
            </a:extLst>
          </p:cNvPr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Class-wise Performance</a:t>
            </a:r>
            <a:endParaRPr lang="en-US" sz="2000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FC4A59E0-1147-AACC-746D-FDCE925BBA45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3657600"/>
          <a:ext cx="6400800" cy="914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Abnormal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D0BFB90E-E028-E4B5-2727-38C66CAAB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280" y="1188720"/>
            <a:ext cx="2560320" cy="205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3EF8E2-F17C-4A3D-5F26-14AAEB0DF5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1187035"/>
            <a:ext cx="2560320" cy="21590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860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3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853AE7-1049-6F90-212E-2BE534E8E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601" y="759914"/>
            <a:ext cx="5457579" cy="21041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A251D1-2F87-6680-9FD6-54033A977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2633" y="2988436"/>
            <a:ext cx="6558733" cy="20179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Contributions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vs. Existing Work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635437"/>
              </p:ext>
            </p:extLst>
          </p:nvPr>
        </p:nvGraphicFramePr>
        <p:xfrm>
          <a:off x="914400" y="1371600"/>
          <a:ext cx="7315200" cy="118872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CAD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0.65 - 0.75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CNN-based (CheXNet)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0.75 - 0.85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+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337560"/>
            <a:ext cx="2651760" cy="146304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6"/>
          <p:cNvSpPr/>
          <p:nvPr/>
        </p:nvSpPr>
        <p:spPr>
          <a:xfrm>
            <a:off x="109728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combine ResNet-18 + BioBERT for chest X-ray diagnosis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3337560"/>
            <a:ext cx="2651760" cy="146304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7472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9319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74720" y="3886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actual radiologist reports for enhanced diagnosis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3337560"/>
            <a:ext cx="2651760" cy="146304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0936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7665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Design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09360" y="3886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approach addressing real clinical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Enhancements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3293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90138"/>
            <a:ext cx="8229600" cy="1188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27298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Size: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IU-Xray dataset is relatively small compared to modern medical imaging datasets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sensitivity to abnormal cases due to dataset imbalance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Generalization: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single institution data may not generalize to diverse populations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6173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Enhancements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318938"/>
            <a:ext cx="8229600" cy="121920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318938"/>
            <a:ext cx="73152" cy="1219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59" y="3540765"/>
            <a:ext cx="622130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larger datasets (MIMIC-CXR, CheXpert)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Multi-institutional validation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for images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2311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Sheneeza Chaudhary | 22015775 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760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Learning-Based Chest X-Ray Diagnosis</dc:title>
  <dc:subject>PptxGenJS Presentation</dc:subject>
  <dc:creator>Sheneeza Chaudhary</dc:creator>
  <cp:lastModifiedBy>Sheneeza Chaudhary</cp:lastModifiedBy>
  <cp:revision>5</cp:revision>
  <dcterms:created xsi:type="dcterms:W3CDTF">2026-02-01T15:57:48Z</dcterms:created>
  <dcterms:modified xsi:type="dcterms:W3CDTF">2026-02-03T02:44:46Z</dcterms:modified>
</cp:coreProperties>
</file>